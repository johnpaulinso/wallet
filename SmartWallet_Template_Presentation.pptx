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90e18426264bc5" /><Relationship Type="http://schemas.openxmlformats.org/officeDocument/2006/relationships/extended-properties" Target="/docProps/app.xml" Id="Rc8579e7cc91c4870" /><Relationship Type="http://schemas.openxmlformats.org/officeDocument/2006/relationships/officeDocument" Target="/ppt/presentation.xml" Id="R27df6243423a4a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6bf6021b7f4990"/>
  </p:sldMasterIdLst>
  <p:notesMasterIdLst>
    <p:notesMasterId xmlns:r="http://schemas.openxmlformats.org/officeDocument/2006/relationships" r:id="Rfa6e22f3e1ce4d56"/>
  </p:notesMasterIdLst>
  <p:sldIdLst>
    <p:sldId xmlns:r="http://schemas.openxmlformats.org/officeDocument/2006/relationships" id="256" r:id="R3aa60299afde4f78"/>
    <p:sldId xmlns:r="http://schemas.openxmlformats.org/officeDocument/2006/relationships" id="257" r:id="Re2304bffacdc4f2e"/>
    <p:sldId xmlns:r="http://schemas.openxmlformats.org/officeDocument/2006/relationships" id="258" r:id="Red65ab6323124e12"/>
    <p:sldId xmlns:r="http://schemas.openxmlformats.org/officeDocument/2006/relationships" id="259" r:id="Re4c2f1b084ec44c5"/>
    <p:sldId xmlns:r="http://schemas.openxmlformats.org/officeDocument/2006/relationships" id="260" r:id="R45cd829c3e6f4f94"/>
    <p:sldId xmlns:r="http://schemas.openxmlformats.org/officeDocument/2006/relationships" id="261" r:id="R449c92e221aa4d69"/>
  </p:sldIdLst>
  <p:sldSz cx="10693400" cy="7556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bf6021b7f4990" /><Relationship Type="http://schemas.openxmlformats.org/officeDocument/2006/relationships/theme" Target="/ppt/theme/theme1.xml" Id="R5c3a22fd1c2c4501" /><Relationship Type="http://schemas.openxmlformats.org/officeDocument/2006/relationships/notesMaster" Target="/ppt/notesMasters/notesMaster1.xml" Id="Rfa6e22f3e1ce4d56" /><Relationship Type="http://schemas.openxmlformats.org/officeDocument/2006/relationships/presProps" Target="/ppt/presProps.xml" Id="R67f49eb849ff4bed" /><Relationship Type="http://schemas.openxmlformats.org/officeDocument/2006/relationships/viewProps" Target="/ppt/viewProps.xml" Id="R5af13548e9b34457" /><Relationship Type="http://schemas.openxmlformats.org/officeDocument/2006/relationships/tableStyles" Target="/ppt/tableStyles.xml" Id="R1a3bd660083a467e" /><Relationship Type="http://schemas.openxmlformats.org/officeDocument/2006/relationships/slide" Target="/ppt/slides/slide1.xml" Id="R3aa60299afde4f78" /><Relationship Type="http://schemas.openxmlformats.org/officeDocument/2006/relationships/slide" Target="/ppt/slides/slide2.xml" Id="Re2304bffacdc4f2e" /><Relationship Type="http://schemas.openxmlformats.org/officeDocument/2006/relationships/slide" Target="/ppt/slides/slide3.xml" Id="Red65ab6323124e12" /><Relationship Type="http://schemas.openxmlformats.org/officeDocument/2006/relationships/slide" Target="/ppt/slides/slide4.xml" Id="Re4c2f1b084ec44c5" /><Relationship Type="http://schemas.openxmlformats.org/officeDocument/2006/relationships/slide" Target="/ppt/slides/slide5.xml" Id="R45cd829c3e6f4f94" /><Relationship Type="http://schemas.openxmlformats.org/officeDocument/2006/relationships/slide" Target="/ppt/slides/slide6.xml" Id="R449c92e221aa4d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04b77daac349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923bcf505d45b1" /><Relationship Type="http://schemas.openxmlformats.org/officeDocument/2006/relationships/notesMaster" Target="/ppt/notesMasters/notesMaster1.xml" Id="R1101aae98cb54c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61ba0df3c04efe" /><Relationship Type="http://schemas.openxmlformats.org/officeDocument/2006/relationships/notesMaster" Target="/ppt/notesMasters/notesMaster1.xml" Id="Rcf27c20efd9b46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4c01b175ce488e" /><Relationship Type="http://schemas.openxmlformats.org/officeDocument/2006/relationships/notesMaster" Target="/ppt/notesMasters/notesMaster1.xml" Id="Re066cdda8d8043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20e8add855434d" /><Relationship Type="http://schemas.openxmlformats.org/officeDocument/2006/relationships/notesMaster" Target="/ppt/notesMasters/notesMaster1.xml" Id="R71c65e2e45d14b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56eb6cfd0f4f51" /><Relationship Type="http://schemas.openxmlformats.org/officeDocument/2006/relationships/notesMaster" Target="/ppt/notesMasters/notesMaster1.xml" Id="Rfb76f7e2bc0340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57775852f04648" /><Relationship Type="http://schemas.openxmlformats.org/officeDocument/2006/relationships/notesMaster" Target="/ppt/notesMasters/notesMaster1.xml" Id="R96a364555dbf42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5cf53bb9d47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44f6b664644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7cfd5d5064b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8995a177740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eb1d2be4c462c" /></Relationships>
</file>

<file path=ppt/slideLayouts/slideLayout2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7471965-04B2-4662-83C4-A7A747226979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EE02FBB0-C9A3-48DF-B237-D091F064EF7D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534670" y="1737995"/>
            <a:ext cx="4651629" cy="49872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7B6DA21-0E1D-4302-81E8-2DCBF31703F1}"/>
              </a:ext>
            </a:extLst>
          </p:cNvPr>
          <p:cNvSpPr/>
          <p:nvPr>
            <p:ph idx="3"/>
          </p:nvPr>
        </p:nvSpPr>
        <p:spPr>
          <a:xfrm xmlns:a="http://schemas.openxmlformats.org/drawingml/2006/main">
            <a:off x="5507101" y="1737995"/>
            <a:ext cx="4651629" cy="49872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EF1A7406-47B3-40F0-9D3B-4ED7134BA5ED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C6E2CD55-4BC6-4490-AAD2-42691C3F1D1D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43CE8B5-FD5C-43E1-A252-D06350631B5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C2F94D6E-2CF1-4BEA-81A3-EDB9EB2BEDFA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13E36A25-77CF-420F-9F00-29D6E5970ECC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D035F0EB-A876-4354-B5D2-EDADF7491151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330BF2C-903D-4148-BC58-DF71038F386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802005" y="2342515"/>
            <a:ext cx="9089390" cy="158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69672F31-E36D-4A2E-B7F5-64E2C498018A}"/>
              </a:ext>
            </a:extLst>
          </p:cNvPr>
          <p:cNvSpPr/>
          <p:nvPr>
            <p:ph type="subTitle" idx="4"/>
          </p:nvPr>
        </p:nvSpPr>
        <p:spPr>
          <a:xfrm xmlns:a="http://schemas.openxmlformats.org/drawingml/2006/main">
            <a:off x="1604010" y="4231640"/>
            <a:ext cx="7485380" cy="188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C095E489-A6D2-453F-B32B-1E77425D60EB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67A51AC-4208-412B-98CE-2B401C050FEC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2BF8230C-3455-467D-B381-D160822B91C4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8B4E4DA9-D89B-4471-9CDE-D187976DC342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obj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55E88C5A-080F-460E-BD60-A433B8F79E1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E9E76070-0492-44D2-BF5E-42B293A8AD80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6D4EA33-817A-480D-8365-BC03E2EE8F73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c5630b806aa4bcf" /><Relationship Type="http://schemas.openxmlformats.org/officeDocument/2006/relationships/slideLayout" Target="/ppt/slideLayouts/slideLayout2.xml" Id="Rf3a5a022049b40e7" /><Relationship Type="http://schemas.openxmlformats.org/officeDocument/2006/relationships/slideLayout" Target="/ppt/slideLayouts/slideLayout3.xml" Id="R1dc3fcc9edad49b3" /><Relationship Type="http://schemas.openxmlformats.org/officeDocument/2006/relationships/slideLayout" Target="/ppt/slideLayouts/slideLayout4.xml" Id="Rceae9e546a8c4c65" /><Relationship Type="http://schemas.openxmlformats.org/officeDocument/2006/relationships/slideLayout" Target="/ppt/slideLayouts/slideLayout5.xml" Id="R701885bcb5554fb6" /><Relationship Type="http://schemas.openxmlformats.org/officeDocument/2006/relationships/slideLayout" Target="/ppt/slideLayouts/slideLayout6.xml" Id="R4627d8d8174d49a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AE68F077-776A-4CFC-AE3C-5650FF1FE7D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075861" y="582866"/>
            <a:ext cx="8541676" cy="48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C4AFE966-4534-43D1-8F75-D5E5F1AF94F4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87863" y="1251509"/>
            <a:ext cx="9457055" cy="2974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4D1BA6C3-9E5B-4962-A164-78DC98E8990F}"/>
              </a:ext>
            </a:extLst>
          </p:cNvPr>
          <p:cNvSpPr/>
          <p:nvPr>
            <p:ph type="ftr" idx="5"/>
          </p:nvPr>
        </p:nvSpPr>
        <p:spPr>
          <a:xfrm xmlns:a="http://schemas.openxmlformats.org/drawingml/2006/main">
            <a:off x="3635756" y="7027545"/>
            <a:ext cx="3421888" cy="37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2F2DAAE9-982C-4F47-9CC9-0649DBF9021B}"/>
              </a:ext>
            </a:extLst>
          </p:cNvPr>
          <p:cNvSpPr/>
          <p:nvPr>
            <p:ph type="dt" idx="6"/>
          </p:nvPr>
        </p:nvSpPr>
        <p:spPr>
          <a:xfrm xmlns:a="http://schemas.openxmlformats.org/drawingml/2006/main">
            <a:off x="534670" y="7027545"/>
            <a:ext cx="2459482" cy="37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F141A5E7-2FC3-4F54-8910-76FF3402347B}"/>
              </a:ext>
            </a:extLst>
          </p:cNvPr>
          <p:cNvSpPr/>
          <p:nvPr>
            <p:ph type="sldNum" idx="7"/>
          </p:nvPr>
        </p:nvSpPr>
        <p:spPr>
          <a:xfrm xmlns:a="http://schemas.openxmlformats.org/drawingml/2006/main">
            <a:off x="7699248" y="7027545"/>
            <a:ext cx="2459482" cy="37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a5a022049b40e7"/>
    <p:sldLayoutId xmlns:r="http://schemas.openxmlformats.org/officeDocument/2006/relationships" id="2147483650" r:id="R1dc3fcc9edad49b3"/>
    <p:sldLayoutId xmlns:r="http://schemas.openxmlformats.org/officeDocument/2006/relationships" id="2147483651" r:id="Rceae9e546a8c4c65"/>
    <p:sldLayoutId xmlns:r="http://schemas.openxmlformats.org/officeDocument/2006/relationships" id="2147483652" r:id="R701885bcb5554fb6"/>
    <p:sldLayoutId xmlns:r="http://schemas.openxmlformats.org/officeDocument/2006/relationships" id="2147483653" r:id="R4627d8d8174d49a5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8d901ec2dd4c54" /><Relationship Type="http://schemas.openxmlformats.org/officeDocument/2006/relationships/image" Target="/ppt/media/image.jpeg" Id="Rebf58117409b461a" /><Relationship Type="http://schemas.openxmlformats.org/officeDocument/2006/relationships/image" Target="/ppt/media/image2.jpeg" Id="Rf3ef46bff9694109" /><Relationship Type="http://schemas.openxmlformats.org/officeDocument/2006/relationships/image" Target="/ppt/media/image3.jpeg" Id="R26bfbd8fc6b0444f" /><Relationship Type="http://schemas.openxmlformats.org/officeDocument/2006/relationships/notesSlide" Target="/ppt/notesSlides/notesSlide1.xml" Id="Rdc6a5a2547b342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259d34cba144d2" /><Relationship Type="http://schemas.openxmlformats.org/officeDocument/2006/relationships/image" Target="/ppt/media/image4.jpeg" Id="Rc111cda3e8b1437a" /><Relationship Type="http://schemas.openxmlformats.org/officeDocument/2006/relationships/notesSlide" Target="/ppt/notesSlides/notesSlide2.xml" Id="R56de442cc53242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8ce721b9a947e6" /><Relationship Type="http://schemas.openxmlformats.org/officeDocument/2006/relationships/image" Target="/ppt/media/image5.jpeg" Id="R5fd3911b160c484c" /><Relationship Type="http://schemas.openxmlformats.org/officeDocument/2006/relationships/notesSlide" Target="/ppt/notesSlides/notesSlide3.xml" Id="Re760d6039cf240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257ae9d38f4e1b" /><Relationship Type="http://schemas.openxmlformats.org/officeDocument/2006/relationships/image" Target="/ppt/media/image.png" Id="R3c8648903b0442ba" /><Relationship Type="http://schemas.openxmlformats.org/officeDocument/2006/relationships/image" Target="/ppt/media/image2.png" Id="Ra0e25482a30c4628" /><Relationship Type="http://schemas.openxmlformats.org/officeDocument/2006/relationships/image" Target="/ppt/media/image6.jpeg" Id="R682c86df9563452b" /><Relationship Type="http://schemas.openxmlformats.org/officeDocument/2006/relationships/notesSlide" Target="/ppt/notesSlides/notesSlide4.xml" Id="R8b9415dbc3e144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950c13c0e34433" /><Relationship Type="http://schemas.openxmlformats.org/officeDocument/2006/relationships/image" Target="/ppt/media/image.png" Id="Rbae630b6e6c44e9b" /><Relationship Type="http://schemas.openxmlformats.org/officeDocument/2006/relationships/image" Target="/ppt/media/image7.jpeg" Id="Rd9e257de77bd4d79" /><Relationship Type="http://schemas.openxmlformats.org/officeDocument/2006/relationships/notesSlide" Target="/ppt/notesSlides/notesSlide5.xml" Id="R63568e9a658341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5222efee0b4efa" /><Relationship Type="http://schemas.openxmlformats.org/officeDocument/2006/relationships/image" Target="/ppt/media/image.png" Id="R901bbc2276904b91" /><Relationship Type="http://schemas.openxmlformats.org/officeDocument/2006/relationships/image" Target="/ppt/media/image3.png" Id="R510e0a03df3643f1" /><Relationship Type="http://schemas.openxmlformats.org/officeDocument/2006/relationships/image" Target="/ppt/media/image8.jpeg" Id="R28f82464b1b84904" /><Relationship Type="http://schemas.openxmlformats.org/officeDocument/2006/relationships/notesSlide" Target="/ppt/notesSlides/notesSlide6.xml" Id="Rc2a6235d614c45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58117409b46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4601" y="1192551"/>
            <a:ext cx="3208392" cy="1170736"/>
          </a:xfrm>
          <a:prstGeom xmlns:a="http://schemas.openxmlformats.org/drawingml/2006/main" prst="rect">
            <a:avLst/>
          </a:prstGeom>
        </p:spPr>
      </p:pic>
      <p:pic>
        <p:nvPicPr>
          <p:cNvPr id="2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f46bff96941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71319" y="1231295"/>
            <a:ext cx="2757548" cy="1096618"/>
          </a:xfrm>
          <a:prstGeom xmlns:a="http://schemas.openxmlformats.org/drawingml/2006/main" prst="rect">
            <a:avLst/>
          </a:prstGeom>
        </p:spPr>
      </p:pic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472C1DF7-5F57-4A27-8ED9-756F039FF1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4601" y="2971397"/>
            <a:ext cx="9460230" cy="6264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  <p:txBody>
          <a:bodyPr xmlns:a="http://schemas.openxmlformats.org/drawingml/2006/main" vert="horz" wrap="square" lIns="0" tIns="163195" rIns="0" bIns="0">
            <a:spAutoFit/>
          </a:bodyPr>
          <a:lstStyle xmlns:a="http://schemas.openxmlformats.org/drawingml/2006/main"/>
          <a:p xmlns:a="http://schemas.openxmlformats.org/drawingml/2006/main">
            <a:pPr marL="72390">
              <a:lnSpc>
                <a:spcPct val="100000"/>
              </a:lnSpc>
              <a:spcBef>
                <a:spcPts val="1285"/>
              </a:spcBef>
              <a:buNone/>
            </a:pPr>
            <a:r>
              <a:rPr sz="2900">
                <a:solidFill>
                  <a:srgbClr val="93176C"/>
                </a:solidFill>
              </a:rPr>
              <a:t>Project Title:  </a:t>
            </a:r>
            <a:r>
              <a:rPr>
                <a:solidFill>
                  <a:schemeClr val="accent2">
                    <a:lumMod val="75000"/>
                  </a:schemeClr>
                </a:solidFill>
              </a:rPr>
              <a:t>BDSE-CAI-Capstone Project - AI</a:t>
            </a: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DEA955BB-8825-4623-BEAE-67BA1CF6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29" y="3856926"/>
            <a:ext cx="1407160" cy="284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700" b="1">
                <a:solidFill>
                  <a:srgbClr val="93176C"/>
                </a:solidFill>
                <a:latin typeface="Calibri"/>
                <a:ea typeface="Calibri"/>
                <a:cs typeface="Calibri"/>
              </a:rPr>
              <a:t>Module</a:t>
            </a:r>
            <a:r>
              <a:rPr sz="1700" b="1">
                <a:solidFill>
                  <a:srgbClr val="93176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b="1">
                <a:solidFill>
                  <a:srgbClr val="93176C"/>
                </a:solidFill>
                <a:latin typeface="Calibri"/>
                <a:ea typeface="Calibri"/>
                <a:cs typeface="Calibri"/>
              </a:rPr>
              <a:t>Project</a:t>
            </a: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5A5E8B57-FCC6-46CA-AA3E-BB006E8A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291" y="5154527"/>
            <a:ext cx="4589145" cy="1069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 vert="horz" wrap="square" lIns="0" tIns="35560" rIns="0" bIns="0">
            <a:spAutoFit/>
          </a:bodyPr>
          <a:lstStyle xmlns:a="http://schemas.openxmlformats.org/drawingml/2006/main"/>
          <a:p xmlns:a="http://schemas.openxmlformats.org/drawingml/2006/main">
            <a:pPr marL="96520">
              <a:lnSpc>
                <a:spcPct val="100000"/>
              </a:lnSpc>
              <a:spcBef>
                <a:spcPts val="280"/>
              </a:spcBef>
              <a:buNone/>
            </a:pPr>
            <a:r>
              <a:rPr sz="1500" b="1">
                <a:latin typeface="Calibri"/>
                <a:ea typeface="Calibri"/>
                <a:cs typeface="Calibri"/>
              </a:rPr>
              <a:t>Start</a:t>
            </a:r>
            <a:r>
              <a:rPr sz="1500" b="1">
                <a:latin typeface="Calibri"/>
                <a:ea typeface="Calibri"/>
                <a:cs typeface="Calibri"/>
              </a:rPr>
              <a:t> Date	</a:t>
            </a:r>
            <a:r>
              <a:rPr sz="1500" b="1">
                <a:latin typeface="Calibri"/>
                <a:ea typeface="Calibri"/>
                <a:cs typeface="Calibri"/>
              </a:rPr>
              <a:t>:</a:t>
            </a:r>
          </a:p>
          <a:p xmlns:a="http://schemas.openxmlformats.org/drawingml/2006/main">
            <a:pPr marL="96520">
              <a:lnSpc>
                <a:spcPts val="2400"/>
              </a:lnSpc>
              <a:spcBef>
                <a:spcPts val="85"/>
              </a:spcBef>
              <a:buNone/>
            </a:pPr>
            <a:r>
              <a:rPr sz="1500" b="1">
                <a:latin typeface="Calibri"/>
                <a:ea typeface="Calibri"/>
                <a:cs typeface="Calibri"/>
              </a:rPr>
              <a:t>E</a:t>
            </a:r>
            <a:r>
              <a:rPr sz="1500" b="1">
                <a:latin typeface="Calibri"/>
                <a:ea typeface="Calibri"/>
                <a:cs typeface="Calibri"/>
              </a:rPr>
              <a:t>n</a:t>
            </a:r>
            <a:r>
              <a:rPr sz="1500" b="1">
                <a:latin typeface="Calibri"/>
                <a:ea typeface="Calibri"/>
                <a:cs typeface="Calibri"/>
              </a:rPr>
              <a:t>d</a:t>
            </a:r>
            <a:r>
              <a:rPr sz="1500" b="1">
                <a:latin typeface="Calibri"/>
                <a:ea typeface="Calibri"/>
                <a:cs typeface="Calibri"/>
              </a:rPr>
              <a:t> </a:t>
            </a:r>
            <a:r>
              <a:rPr sz="1500" b="1">
                <a:latin typeface="Calibri"/>
                <a:ea typeface="Calibri"/>
                <a:cs typeface="Calibri"/>
              </a:rPr>
              <a:t>D</a:t>
            </a:r>
            <a:r>
              <a:rPr sz="1500" b="1">
                <a:latin typeface="Calibri"/>
                <a:ea typeface="Calibri"/>
                <a:cs typeface="Calibri"/>
              </a:rPr>
              <a:t>at</a:t>
            </a:r>
            <a:r>
              <a:rPr sz="1500" b="1">
                <a:latin typeface="Calibri"/>
                <a:ea typeface="Calibri"/>
                <a:cs typeface="Calibri"/>
              </a:rPr>
              <a:t>e	:  </a:t>
            </a:r>
            <a:r>
              <a:rPr sz="1500" b="1">
                <a:latin typeface="Calibri"/>
                <a:ea typeface="Calibri"/>
                <a:cs typeface="Calibri"/>
              </a:rPr>
              <a:t>Sub</a:t>
            </a:r>
            <a:r>
              <a:rPr sz="1500" b="1">
                <a:latin typeface="Calibri"/>
                <a:ea typeface="Calibri"/>
                <a:cs typeface="Calibri"/>
              </a:rPr>
              <a:t>m</a:t>
            </a:r>
            <a:r>
              <a:rPr sz="1500" b="1">
                <a:latin typeface="Calibri"/>
                <a:ea typeface="Calibri"/>
                <a:cs typeface="Calibri"/>
              </a:rPr>
              <a:t>i</a:t>
            </a:r>
            <a:r>
              <a:rPr sz="1500" b="1">
                <a:latin typeface="Calibri"/>
                <a:ea typeface="Calibri"/>
                <a:cs typeface="Calibri"/>
              </a:rPr>
              <a:t>ss</a:t>
            </a:r>
            <a:r>
              <a:rPr sz="1500" b="1">
                <a:latin typeface="Calibri"/>
                <a:ea typeface="Calibri"/>
                <a:cs typeface="Calibri"/>
              </a:rPr>
              <a:t>i</a:t>
            </a:r>
            <a:r>
              <a:rPr sz="1500" b="1">
                <a:latin typeface="Calibri"/>
                <a:ea typeface="Calibri"/>
                <a:cs typeface="Calibri"/>
              </a:rPr>
              <a:t>o</a:t>
            </a:r>
            <a:r>
              <a:rPr sz="1500" b="1">
                <a:latin typeface="Calibri"/>
                <a:ea typeface="Calibri"/>
                <a:cs typeface="Calibri"/>
              </a:rPr>
              <a:t>n</a:t>
            </a:r>
            <a:r>
              <a:rPr sz="1500" b="1">
                <a:latin typeface="Calibri"/>
                <a:ea typeface="Calibri"/>
                <a:cs typeface="Calibri"/>
              </a:rPr>
              <a:t> </a:t>
            </a:r>
            <a:r>
              <a:rPr sz="1500" b="1">
                <a:latin typeface="Calibri"/>
                <a:ea typeface="Calibri"/>
                <a:cs typeface="Calibri"/>
              </a:rPr>
              <a:t>D</a:t>
            </a:r>
            <a:r>
              <a:rPr sz="1500" b="1">
                <a:latin typeface="Calibri"/>
                <a:ea typeface="Calibri"/>
                <a:cs typeface="Calibri"/>
              </a:rPr>
              <a:t>a</a:t>
            </a:r>
            <a:r>
              <a:rPr sz="1500" b="1">
                <a:latin typeface="Calibri"/>
                <a:ea typeface="Calibri"/>
                <a:cs typeface="Calibri"/>
              </a:rPr>
              <a:t>t</a:t>
            </a:r>
            <a:r>
              <a:rPr sz="1500" b="1">
                <a:latin typeface="Calibri"/>
                <a:ea typeface="Calibri"/>
                <a:cs typeface="Calibri"/>
              </a:rPr>
              <a:t>e	:</a:t>
            </a: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0E2FD7B-EB87-4F23-808B-82E23F35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291" y="4315640"/>
            <a:ext cx="7742555" cy="577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 vert="horz" wrap="square" lIns="0" tIns="36195" rIns="0" bIns="0">
            <a:spAutoFit/>
          </a:bodyPr>
          <a:lstStyle xmlns:a="http://schemas.openxmlformats.org/drawingml/2006/main"/>
          <a:p xmlns:a="http://schemas.openxmlformats.org/drawingml/2006/main">
            <a:pPr marL="44450">
              <a:lnSpc>
                <a:spcPct val="100000"/>
              </a:lnSpc>
              <a:spcBef>
                <a:spcPts val="285"/>
              </a:spcBef>
              <a:buNone/>
            </a:pPr>
            <a:r>
              <a:rPr sz="1500" b="1">
                <a:latin typeface="Calibri"/>
                <a:ea typeface="Calibri"/>
                <a:cs typeface="Calibri"/>
              </a:rPr>
              <a:t>Module:</a:t>
            </a:r>
            <a:r>
              <a:rPr sz="1500" b="1">
                <a:latin typeface="Calibri"/>
                <a:ea typeface="Calibri"/>
                <a:cs typeface="Calibri"/>
              </a:rPr>
              <a:t> </a:t>
            </a:r>
            <a:r>
              <a:rPr sz="1500" b="1">
                <a:latin typeface="Calibri"/>
                <a:ea typeface="Calibri"/>
                <a:cs typeface="Calibri"/>
              </a:rPr>
              <a:t>Applied Machine Learning</a:t>
            </a:r>
          </a:p>
          <a:p xmlns:a="http://schemas.openxmlformats.org/drawingml/2006/main">
            <a:pPr marL="44450">
              <a:lnSpc>
                <a:spcPct val="100000"/>
              </a:lnSpc>
              <a:spcBef>
                <a:spcPts val="505"/>
              </a:spcBef>
              <a:buNone/>
            </a:pPr>
            <a:r>
              <a:rPr sz="1500" b="1">
                <a:latin typeface="Calibri"/>
                <a:ea typeface="Calibri"/>
                <a:cs typeface="Calibri"/>
              </a:rPr>
              <a:t>Course:</a:t>
            </a:r>
            <a:r>
              <a:rPr sz="1500" b="1">
                <a:latin typeface="Calibri"/>
                <a:ea typeface="Calibri"/>
                <a:cs typeface="Calibri"/>
              </a:rPr>
              <a:t> </a:t>
            </a:r>
            <a:r>
              <a:rPr sz="1500" b="1">
                <a:latin typeface="Calibri"/>
                <a:ea typeface="Calibri"/>
                <a:cs typeface="Calibri"/>
              </a:rPr>
              <a:t> BDSE</a:t>
            </a: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ABA58F86-EA02-4538-85E8-8FF8A9F1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620" y="5154527"/>
            <a:ext cx="4589145" cy="1069975"/>
          </a:xfrm>
          <a:custGeom xmlns:a="http://schemas.openxmlformats.org/drawingml/2006/main">
            <a:rect l="l" t="t" r="r" b="b"/>
            <a:pathLst>
              <a:path w="4589145" h="1069975">
                <a:moveTo>
                  <a:pt x="4588616" y="0"/>
                </a:moveTo>
                <a:lnTo>
                  <a:pt x="0" y="0"/>
                </a:lnTo>
                <a:lnTo>
                  <a:pt x="0" y="1069667"/>
                </a:lnTo>
                <a:lnTo>
                  <a:pt x="4588616" y="1069667"/>
                </a:lnTo>
                <a:lnTo>
                  <a:pt x="4588616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r>
              <a:t>		John Paul Inso</a:t>
            </a:r>
          </a:p>
          <a:p xmlns:a="http://schemas.openxmlformats.org/drawingml/2006/main">
            <a:r>
              <a:t>		BDSE-0922-119</a:t>
            </a: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4260D604-D4EF-47BC-BDFA-51789A7C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648" y="5113718"/>
            <a:ext cx="1520825" cy="610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620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sz="1500" b="1">
                <a:latin typeface="Calibri"/>
                <a:ea typeface="Calibri"/>
                <a:cs typeface="Calibri"/>
              </a:rPr>
              <a:t>Lea</a:t>
            </a:r>
            <a:r>
              <a:rPr sz="1500" b="1">
                <a:latin typeface="Calibri"/>
                <a:ea typeface="Calibri"/>
                <a:cs typeface="Calibri"/>
              </a:rPr>
              <a:t>r</a:t>
            </a:r>
            <a:r>
              <a:rPr sz="1500" b="1">
                <a:latin typeface="Calibri"/>
                <a:ea typeface="Calibri"/>
                <a:cs typeface="Calibri"/>
              </a:rPr>
              <a:t>n</a:t>
            </a:r>
            <a:r>
              <a:rPr sz="1500" b="1">
                <a:latin typeface="Calibri"/>
                <a:ea typeface="Calibri"/>
                <a:cs typeface="Calibri"/>
              </a:rPr>
              <a:t>e</a:t>
            </a:r>
            <a:r>
              <a:rPr sz="1500" b="1">
                <a:latin typeface="Calibri"/>
                <a:ea typeface="Calibri"/>
                <a:cs typeface="Calibri"/>
              </a:rPr>
              <a:t>r</a:t>
            </a:r>
            <a:r>
              <a:rPr sz="1500" b="1">
                <a:latin typeface="Calibri"/>
                <a:ea typeface="Calibri"/>
                <a:cs typeface="Calibri"/>
              </a:rPr>
              <a:t> N</a:t>
            </a:r>
            <a:r>
              <a:rPr sz="1500" b="1">
                <a:latin typeface="Calibri"/>
                <a:ea typeface="Calibri"/>
                <a:cs typeface="Calibri"/>
              </a:rPr>
              <a:t>am</a:t>
            </a:r>
            <a:r>
              <a:rPr sz="1500" b="1">
                <a:latin typeface="Calibri"/>
                <a:ea typeface="Calibri"/>
                <a:cs typeface="Calibri"/>
              </a:rPr>
              <a:t>e	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505"/>
              </a:spcBef>
              <a:buNone/>
            </a:pPr>
            <a:r>
              <a:rPr sz="1500" b="1">
                <a:latin typeface="Calibri"/>
                <a:ea typeface="Calibri"/>
                <a:cs typeface="Calibri"/>
              </a:rPr>
              <a:t>E</a:t>
            </a:r>
            <a:r>
              <a:rPr sz="1500" b="1">
                <a:latin typeface="Calibri"/>
                <a:ea typeface="Calibri"/>
                <a:cs typeface="Calibri"/>
              </a:rPr>
              <a:t>n</a:t>
            </a:r>
            <a:r>
              <a:rPr sz="1500" b="1">
                <a:latin typeface="Calibri"/>
                <a:ea typeface="Calibri"/>
                <a:cs typeface="Calibri"/>
              </a:rPr>
              <a:t>r</a:t>
            </a:r>
            <a:r>
              <a:rPr sz="1500" b="1">
                <a:latin typeface="Calibri"/>
                <a:ea typeface="Calibri"/>
                <a:cs typeface="Calibri"/>
              </a:rPr>
              <a:t>o</a:t>
            </a:r>
            <a:r>
              <a:rPr sz="1500" b="1">
                <a:latin typeface="Calibri"/>
                <a:ea typeface="Calibri"/>
                <a:cs typeface="Calibri"/>
              </a:rPr>
              <a:t>ll</a:t>
            </a:r>
            <a:r>
              <a:rPr sz="1500" b="1">
                <a:latin typeface="Calibri"/>
                <a:ea typeface="Calibri"/>
                <a:cs typeface="Calibri"/>
              </a:rPr>
              <a:t>me</a:t>
            </a:r>
            <a:r>
              <a:rPr sz="1500" b="1">
                <a:latin typeface="Calibri"/>
                <a:ea typeface="Calibri"/>
                <a:cs typeface="Calibri"/>
              </a:rPr>
              <a:t>n</a:t>
            </a:r>
            <a:r>
              <a:rPr sz="1500" b="1">
                <a:latin typeface="Calibri"/>
                <a:ea typeface="Calibri"/>
                <a:cs typeface="Calibri"/>
              </a:rPr>
              <a:t>t</a:t>
            </a:r>
            <a:r>
              <a:rPr sz="1500" b="1">
                <a:latin typeface="Calibri"/>
                <a:ea typeface="Calibri"/>
                <a:cs typeface="Calibri"/>
              </a:rPr>
              <a:t> </a:t>
            </a:r>
            <a:r>
              <a:rPr sz="1500" b="1">
                <a:latin typeface="Calibri"/>
                <a:ea typeface="Calibri"/>
                <a:cs typeface="Calibri"/>
              </a:rPr>
              <a:t>I</a:t>
            </a:r>
            <a:r>
              <a:rPr sz="1500" b="1">
                <a:latin typeface="Calibri"/>
                <a:ea typeface="Calibri"/>
                <a:cs typeface="Calibri"/>
              </a:rPr>
              <a:t>D	:</a:t>
            </a: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3C0AEC2B-6284-42E4-B6CF-C9967D9C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648" y="5775134"/>
            <a:ext cx="152082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latin typeface="Calibri"/>
                <a:ea typeface="Calibri"/>
                <a:cs typeface="Calibri"/>
              </a:rPr>
              <a:t>Presentation</a:t>
            </a:r>
            <a:r>
              <a:rPr sz="1500" b="1">
                <a:latin typeface="Calibri"/>
                <a:ea typeface="Calibri"/>
                <a:cs typeface="Calibri"/>
              </a:rPr>
              <a:t> </a:t>
            </a:r>
            <a:r>
              <a:rPr sz="1500" b="1">
                <a:latin typeface="Calibri"/>
                <a:ea typeface="Calibri"/>
                <a:cs typeface="Calibri"/>
              </a:rPr>
              <a:t>Date</a:t>
            </a:r>
            <a:r>
              <a:rPr sz="1500" b="1">
                <a:latin typeface="Calibri"/>
                <a:ea typeface="Calibri"/>
                <a:cs typeface="Calibri"/>
              </a:rPr>
              <a:t> </a:t>
            </a:r>
            <a:r>
              <a:rPr sz="1500" b="1"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92BC3-9B3F-4E17-B3D6-70794F70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539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50CE0-7F72-425C-8EBB-90E9891B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00064"/>
                </a:solidFill>
              </a:defRPr>
            </a:pPr>
            <a:r>
              <a:rPr sz="1800" b="1">
                <a:solidFill>
                  <a:srgbClr val="A00064"/>
                </a:solidFill>
              </a:rPr>
              <a:t>Smart Wallet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C6066-2639-4BF4-9CBF-FE90C8CE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 short presentation of the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C94D3-EB43-43BB-A125-10EF575F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A mobile-first finance tracker with dashboard analytics, AI spending summary, and recurring expense monitoring.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A3B1B-992A-47BA-BA23-C8C72DED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085850"/>
            <a:ext cx="4667250" cy="521970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fbd8fc6b0444f"/>
          <a:stretch xmlns:a="http://schemas.openxmlformats.org/drawingml/2006/main"/>
        </p:blipFill>
        <p:spPr>
          <a:xfrm xmlns:a="http://schemas.openxmlformats.org/drawingml/2006/main">
            <a:off x="6972419" y="1181100"/>
            <a:ext cx="2381012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463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EA5DB53-78A8-458E-A98B-9D381C2544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5988" y="582866"/>
            <a:ext cx="2861310" cy="48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t>Document</a:t>
            </a:r>
            <a:r>
              <a:t> </a:t>
            </a:r>
            <a:r>
              <a:t>History</a:t>
            </a:r>
          </a:p>
        </p:txBody>
      </p:sp>
      <p:graphicFrame>
        <p:nvGraphicFramePr>
          <p:cNvPr id="3" name="object 3"/>
          <p:cNvGraphicFramePr/>
          <p:nvPr/>
        </p:nvGraphicFramePr>
        <p:xfrm>
          <a:off xmlns:a="http://schemas.openxmlformats.org/drawingml/2006/main" x="487863" y="1251509"/>
          <a:ext xmlns:a="http://schemas.openxmlformats.org/drawingml/2006/main" cx="9437370" cy="296137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2205"/>
                <a:gridCol w="2359660"/>
                <a:gridCol w="3491865"/>
                <a:gridCol w="2453640"/>
              </a:tblGrid>
              <a:tr h="10309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</a:p>
                    <a:p>
                      <a:pPr marL="198755" indent="31750">
                        <a:lnSpc>
                          <a:spcPts val="1989"/>
                        </a:lnSpc>
                        <a:buNone/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Version 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er</a:t>
                      </a:r>
                    </a:p>
                  </a:txBody>
                  <a:tcPr marL="0" marR="0" marT="38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</a:p>
                    <a:p>
                      <a:pPr marL="99060">
                        <a:lnSpc>
                          <a:spcPct val="100000"/>
                        </a:lnSpc>
                        <a:buNone/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Effective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Date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release</a:t>
                      </a: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</a:p>
                    <a:p>
                      <a:pPr marL="391160">
                        <a:lnSpc>
                          <a:spcPct val="100000"/>
                        </a:lnSpc>
                        <a:buNone/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Summary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Included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Changes</a:t>
                      </a: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Author</a:t>
                      </a: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643484">
                <a:tc>
                  <a:txBody>
                    <a:bodyPr/>
                    <a:lstStyle/>
                    <a:p>
                      <a:pPr marL="60325" algn="ctr">
                        <a:lnSpc>
                          <a:spcPct val="100000"/>
                        </a:lnSpc>
                        <a:buNone/>
                      </a:pPr>
                      <a:r>
                        <a:rPr sz="17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180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buNone/>
                      </a:pPr>
                      <a:r>
                        <a:rPr sz="1700">
                          <a:latin typeface="Calibri"/>
                          <a:ea typeface="Calibri"/>
                          <a:cs typeface="Calibri"/>
                        </a:rPr>
                        <a:t>15 Sept 2023</a:t>
                      </a:r>
                    </a:p>
                  </a:txBody>
                  <a:tcPr marL="0" marR="0" marT="180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buNone/>
                      </a:pPr>
                      <a:r>
                        <a:rPr sz="1700">
                          <a:latin typeface="Calibri"/>
                          <a:ea typeface="Calibri"/>
                          <a:cs typeface="Calibri"/>
                        </a:rPr>
                        <a:t>First</a:t>
                      </a:r>
                      <a:r>
                        <a:rPr sz="170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700">
                          <a:latin typeface="Calibri"/>
                          <a:ea typeface="Calibri"/>
                          <a:cs typeface="Calibri"/>
                        </a:rPr>
                        <a:t>Edition</a:t>
                      </a:r>
                    </a:p>
                  </a:txBody>
                  <a:tcPr marL="0" marR="0" marT="180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buNone/>
                      </a:pPr>
                      <a:r>
                        <a:rPr sz="1700">
                          <a:latin typeface="Calibri"/>
                          <a:ea typeface="Calibri"/>
                          <a:cs typeface="Calibri"/>
                        </a:rPr>
                        <a:t>Dr. Roshan</a:t>
                      </a:r>
                    </a:p>
                  </a:txBody>
                  <a:tcPr marL="0" marR="0" marT="180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643484">
                <a:tc>
                  <a:txBody>
                    <a:bodyPr/>
                    <a:lstStyle/>
                    <a:p>
                      <a:pPr marL="60325" algn="ctr">
                        <a:lnSpc>
                          <a:spcPct val="100000"/>
                        </a:lnSpc>
                        <a:buNone/>
                      </a:pPr>
                    </a:p>
                  </a:txBody>
                  <a:tcPr marL="0" marR="0" marT="180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buNone/>
                      </a:pPr>
                    </a:p>
                  </a:txBody>
                  <a:tcPr marL="0" marR="0" marT="180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buNone/>
                      </a:pPr>
                    </a:p>
                  </a:txBody>
                  <a:tcPr marL="0" marR="0" marT="180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buNone/>
                      </a:pPr>
                    </a:p>
                  </a:txBody>
                  <a:tcPr marL="0" marR="0" marT="180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6434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CE747-603C-40BA-8F88-8C4AD18F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539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7A579-1DBF-4DD2-B037-86AEECE0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00064"/>
                </a:solidFill>
              </a:defRPr>
            </a:pPr>
            <a:r>
              <a:rPr sz="1650" b="1">
                <a:solidFill>
                  <a:srgbClr val="A00064"/>
                </a:solidFill>
              </a:rPr>
              <a:t>Table of Contents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8422F-071F-4BCA-AE24-C170E0E2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8D179-33C4-45E4-8BB8-3F31006F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Project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B030E-4820-4F13-8D56-3D8C3C5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A07A9-3790-41CC-B881-FE61C22D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Core user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F1392-3203-4740-B849-50C81830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AB3A8-90E3-4493-A452-2417CA83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Dashboard and charts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79E3A-5AEA-4E73-8AC4-725A3A4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2287E-2263-49E1-8B14-BD4045CE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AI and recurring expenses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849F4-7426-4D51-9281-864F8650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085850"/>
            <a:ext cx="4000500" cy="52197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1cda3e8b1437a"/>
          <a:stretch xmlns:a="http://schemas.openxmlformats.org/drawingml/2006/main"/>
        </p:blipFill>
        <p:spPr>
          <a:xfrm xmlns:a="http://schemas.openxmlformats.org/drawingml/2006/main">
            <a:off x="7039094" y="1181100"/>
            <a:ext cx="2381012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61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34DF42B-044C-4FF5-9EE9-5AC188EE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393" y="1568450"/>
            <a:ext cx="7444288" cy="2706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5095" rIns="0" bIns="0">
            <a:spAutoFit/>
          </a:bodyPr>
          <a:lstStyle xmlns:a="http://schemas.openxmlformats.org/drawingml/2006/main"/>
          <a:p xmlns:a="http://schemas.openxmlformats.org/drawingml/2006/main">
            <a:pPr marL="315595" indent="-303530">
              <a:lnSpc>
                <a:spcPct val="100000"/>
              </a:lnSpc>
              <a:spcBef>
                <a:spcPts val="985"/>
              </a:spcBef>
              <a:buAutoNum type="arabicPeriod"/>
            </a:pPr>
            <a:r>
              <a:rPr sz="2100" b="1"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315595" indent="-303530">
              <a:lnSpc>
                <a:spcPct val="100000"/>
              </a:lnSpc>
              <a:spcBef>
                <a:spcPts val="985"/>
              </a:spcBef>
              <a:buAutoNum type="arabicPeriod"/>
            </a:pPr>
            <a:r>
              <a:rPr sz="2100" b="1"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315595" indent="-303530">
              <a:lnSpc>
                <a:spcPct val="100000"/>
              </a:lnSpc>
              <a:spcBef>
                <a:spcPts val="985"/>
              </a:spcBef>
              <a:buAutoNum type="arabicPeriod"/>
            </a:pPr>
            <a:r>
              <a:rPr sz="2100" b="1"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315595" indent="-303530">
              <a:lnSpc>
                <a:spcPct val="100000"/>
              </a:lnSpc>
              <a:spcBef>
                <a:spcPts val="985"/>
              </a:spcBef>
              <a:buAutoNum type="arabicPeriod"/>
            </a:pPr>
            <a:r>
              <a:rPr sz="2100" b="1"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315595" indent="-303530">
              <a:lnSpc>
                <a:spcPct val="100000"/>
              </a:lnSpc>
              <a:spcBef>
                <a:spcPts val="985"/>
              </a:spcBef>
              <a:buAutoNum type="arabicPeriod"/>
            </a:pPr>
            <a:r>
              <a:rPr sz="2100" b="1"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315595" indent="-303530">
              <a:lnSpc>
                <a:spcPct val="100000"/>
              </a:lnSpc>
              <a:spcBef>
                <a:spcPts val="985"/>
              </a:spcBef>
              <a:buAutoNum type="arabicPeriod"/>
            </a:pPr>
            <a:r>
              <a:rPr sz="2100" b="1"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DB93F2C3-E09B-4C0F-9AE5-26B9D5D0EA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5861" y="582866"/>
            <a:ext cx="1425575" cy="48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t>C</a:t>
            </a:r>
            <a:r>
              <a:t>o</a:t>
            </a:r>
            <a:r>
              <a:t>n</a:t>
            </a:r>
            <a:r>
              <a:t>t</a:t>
            </a:r>
            <a:r>
              <a:t>e</a:t>
            </a:r>
            <a:r>
              <a:t>n</a:t>
            </a:r>
            <a:r>
              <a:t>t</a:t>
            </a:r>
            <a:r>
              <a:t>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0096F-71E1-4EA5-980B-B1FDE423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539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3BB57-5069-4046-89B7-1740DE6E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00064"/>
                </a:solidFill>
              </a:defRPr>
            </a:pPr>
            <a:r>
              <a:rPr sz="1650" b="1">
                <a:solidFill>
                  <a:srgbClr val="A00064"/>
                </a:solidFill>
              </a:rPr>
              <a:t>Core User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0E0F7-9E15-417D-9049-6A0C317E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A32B5-293F-439D-9E4A-AD0EB72F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Log in to access the wallet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ED88D-F438-4FDB-B63A-EF285182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88C74-EE29-4983-B77B-F9597171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Switch wallet accounts when needed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61BD9-67C5-4BAD-A35C-5E355903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5F258-E287-4673-83B1-1BBE410C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Add transactions and track spending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9BC87-8FE3-43DD-875E-C31A0F34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085850"/>
            <a:ext cx="4000500" cy="52197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3911b160c484c"/>
          <a:stretch xmlns:a="http://schemas.openxmlformats.org/drawingml/2006/main"/>
        </p:blipFill>
        <p:spPr>
          <a:xfrm xmlns:a="http://schemas.openxmlformats.org/drawingml/2006/main">
            <a:off x="7039094" y="1181100"/>
            <a:ext cx="2381012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906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2F3DF150-BFFD-435B-A33F-1F297D26AF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5861" y="582866"/>
            <a:ext cx="4956639" cy="9361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spcBef>
                <a:spcPts val="100"/>
              </a:spcBef>
              <a:buNone/>
            </a:pPr>
            <a:r>
              <a:t>1.	</a:t>
            </a:r>
            <a:r>
              <a:t>Title</a:t>
            </a:r>
            <a:br/>
          </a:p>
        </p:txBody>
      </p:sp>
      <p:pic>
        <p:nvPicPr>
          <p:cNvPr id="3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648903b0442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4601" y="1232598"/>
            <a:ext cx="9485375" cy="6184392"/>
          </a:xfrm>
          <a:prstGeom xmlns:a="http://schemas.openxmlformats.org/drawingml/2006/main" prst="rect">
            <a:avLst/>
          </a:prstGeom>
        </p:spPr>
      </p:pic>
      <p:pic>
        <p:nvPicPr>
          <p:cNvPr id="4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25482a30c46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72553" y="1208214"/>
            <a:ext cx="9150096" cy="1405127"/>
          </a:xfrm>
          <a:prstGeom xmlns:a="http://schemas.openxmlformats.org/drawingml/2006/main" prst="rect">
            <a:avLst/>
          </a:prstGeom>
        </p:spPr>
      </p:pic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9EE4716-6215-44C7-AAD9-1AE80618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601" y="1258247"/>
            <a:ext cx="9436735" cy="6160770"/>
          </a:xfrm>
          <a:custGeom xmlns:a="http://schemas.openxmlformats.org/drawingml/2006/main">
            <a:rect l="l" t="t" r="r" b="b"/>
            <a:pathLst>
              <a:path w="9436735" h="6160770">
                <a:moveTo>
                  <a:pt x="9436645" y="0"/>
                </a:moveTo>
                <a:lnTo>
                  <a:pt x="0" y="0"/>
                </a:lnTo>
                <a:lnTo>
                  <a:pt x="0" y="6160266"/>
                </a:lnTo>
                <a:lnTo>
                  <a:pt x="9436645" y="6160266"/>
                </a:lnTo>
                <a:lnTo>
                  <a:pt x="9436645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CC4CAB5A-49A4-4ACD-857F-5B564C7C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601" y="1258247"/>
            <a:ext cx="9436735" cy="6160770"/>
          </a:xfrm>
          <a:custGeom xmlns:a="http://schemas.openxmlformats.org/drawingml/2006/main">
            <a:rect l="l" t="t" r="r" b="b"/>
            <a:pathLst>
              <a:path w="9436735" h="6160770">
                <a:moveTo>
                  <a:pt x="0" y="0"/>
                </a:moveTo>
                <a:lnTo>
                  <a:pt x="9436645" y="0"/>
                </a:lnTo>
                <a:lnTo>
                  <a:pt x="9436645" y="6160266"/>
                </a:lnTo>
                <a:lnTo>
                  <a:pt x="0" y="6160266"/>
                </a:lnTo>
                <a:lnTo>
                  <a:pt x="0" y="0"/>
                </a:lnTo>
                <a:close/>
              </a:path>
            </a:pathLst>
          </a:cu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A2F7A-FCE4-41A0-A456-DF9C5C67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539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C5200-419E-486C-802F-D3C5E067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00064"/>
                </a:solidFill>
              </a:defRPr>
            </a:pPr>
            <a:r>
              <a:rPr sz="1650" b="1">
                <a:solidFill>
                  <a:srgbClr val="A00064"/>
                </a:solidFill>
              </a:rPr>
              <a:t>Dashboard and Charts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42312-FB30-4EF0-B03A-4C26D617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E8B84-49C1-46EA-B9AC-05EAD16B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Tracks all monthly expenses in one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931CD-1B93-4894-9DC4-738F067D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9397E-2671-4899-98DB-B7F02D4E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Shows quick summaries and spending trends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FC5DC-721F-488F-87B7-5141B8D5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24422-E672-46A4-AD2E-0FC8E37B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Includes donut and line chart views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8BB25-66F0-4ED8-937D-CF163F29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085850"/>
            <a:ext cx="4000500" cy="52197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c86df9563452b"/>
          <a:stretch xmlns:a="http://schemas.openxmlformats.org/drawingml/2006/main"/>
        </p:blipFill>
        <p:spPr>
          <a:xfrm xmlns:a="http://schemas.openxmlformats.org/drawingml/2006/main">
            <a:off x="7039094" y="1181100"/>
            <a:ext cx="2381012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490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86C69FB-23B8-43E2-B840-5AE17614C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5861" y="582866"/>
            <a:ext cx="5947239" cy="966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spcBef>
                <a:spcPts val="100"/>
              </a:spcBef>
              <a:buNone/>
            </a:pPr>
            <a:r>
              <a:t>2.	</a:t>
            </a:r>
            <a:r>
              <a:rPr sz="3200" b="1">
                <a:latin typeface="Calibri"/>
                <a:ea typeface="Calibri"/>
                <a:cs typeface="Calibri"/>
              </a:rPr>
              <a:t>Proposed Solution</a:t>
            </a:r>
            <a:br/>
          </a:p>
        </p:txBody>
      </p:sp>
      <p:pic>
        <p:nvPicPr>
          <p:cNvPr id="3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630b6e6c44e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4601" y="1232598"/>
            <a:ext cx="9485375" cy="6184392"/>
          </a:xfrm>
          <a:prstGeom xmlns:a="http://schemas.openxmlformats.org/drawingml/2006/main" prst="rect">
            <a:avLst/>
          </a:prstGeom>
        </p:spPr>
      </p:pic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22420E15-B466-410A-98B5-DD0CFDA3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601" y="1258247"/>
            <a:ext cx="9436735" cy="6160770"/>
          </a:xfrm>
          <a:custGeom xmlns:a="http://schemas.openxmlformats.org/drawingml/2006/main">
            <a:rect l="l" t="t" r="r" b="b"/>
            <a:pathLst>
              <a:path w="9436735" h="6160770">
                <a:moveTo>
                  <a:pt x="9436645" y="0"/>
                </a:moveTo>
                <a:lnTo>
                  <a:pt x="0" y="0"/>
                </a:lnTo>
                <a:lnTo>
                  <a:pt x="0" y="6160266"/>
                </a:lnTo>
                <a:lnTo>
                  <a:pt x="9436645" y="6160266"/>
                </a:lnTo>
                <a:lnTo>
                  <a:pt x="9436645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7FA688D-1D5B-40D1-A85F-3FEB9494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601" y="1258247"/>
            <a:ext cx="9436735" cy="6160770"/>
          </a:xfrm>
          <a:custGeom xmlns:a="http://schemas.openxmlformats.org/drawingml/2006/main">
            <a:rect l="l" t="t" r="r" b="b"/>
            <a:pathLst>
              <a:path w="9436735" h="6160770">
                <a:moveTo>
                  <a:pt x="0" y="0"/>
                </a:moveTo>
                <a:lnTo>
                  <a:pt x="9436645" y="0"/>
                </a:lnTo>
                <a:lnTo>
                  <a:pt x="9436645" y="6160266"/>
                </a:lnTo>
                <a:lnTo>
                  <a:pt x="0" y="6160266"/>
                </a:lnTo>
                <a:lnTo>
                  <a:pt x="0" y="0"/>
                </a:lnTo>
                <a:close/>
              </a:path>
            </a:pathLst>
          </a:cu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DB36D-8717-44AC-B194-D3E2BCB6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539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07E6F-AB64-4E83-A186-2A9BAC94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00064"/>
                </a:solidFill>
              </a:defRPr>
            </a:pPr>
            <a:r>
              <a:rPr sz="1650" b="1">
                <a:solidFill>
                  <a:srgbClr val="A00064"/>
                </a:solidFill>
              </a:rPr>
              <a:t>AI 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302E2-8FE8-429E-843B-FEB167D6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0B27B-8608-4CD3-80DA-9F1F80BE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Explains spending behavior in simple 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DCC7D-0731-4CC5-865B-E51042E0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DFEC6-452A-43E8-880A-60B76FF3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Helps users understand their monthly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3355D-2B10-4548-90B5-23B0058A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13486-C43C-426E-A132-15EDACAA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Makes the app feel more helpful and intelligent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41B95-1F63-4A44-A9FE-AA99CC93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085850"/>
            <a:ext cx="4000500" cy="52197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257de77bd4d79"/>
          <a:stretch xmlns:a="http://schemas.openxmlformats.org/drawingml/2006/main"/>
        </p:blipFill>
        <p:spPr>
          <a:xfrm xmlns:a="http://schemas.openxmlformats.org/drawingml/2006/main">
            <a:off x="7039094" y="1181100"/>
            <a:ext cx="2381012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091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CF0C144-9BCC-CC85-9BC4-D84B027709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5861" y="582866"/>
            <a:ext cx="7547439" cy="474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t>5.	</a:t>
            </a:r>
            <a:r>
              <a:t>Conclusion and </a:t>
            </a:r>
            <a:r>
              <a:t>Proposed</a:t>
            </a:r>
            <a:r>
              <a:t> </a:t>
            </a:r>
            <a:r>
              <a:t>Improvements</a:t>
            </a:r>
          </a:p>
        </p:txBody>
      </p:sp>
      <p:pic>
        <p:nvPicPr>
          <p:cNvPr id="3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bbc2276904b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4601" y="1232598"/>
            <a:ext cx="9485375" cy="6184392"/>
          </a:xfrm>
          <a:prstGeom xmlns:a="http://schemas.openxmlformats.org/drawingml/2006/main" prst="rect">
            <a:avLst/>
          </a:prstGeom>
        </p:spPr>
      </p:pic>
      <p:pic>
        <p:nvPicPr>
          <p:cNvPr id="4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e0a03df3643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72553" y="1208214"/>
            <a:ext cx="8802624" cy="1139952"/>
          </a:xfrm>
          <a:prstGeom xmlns:a="http://schemas.openxmlformats.org/drawingml/2006/main" prst="rect">
            <a:avLst/>
          </a:prstGeom>
        </p:spPr>
      </p:pic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F14C1DE8-22F2-4BA1-1A69-65A98026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601" y="1258247"/>
            <a:ext cx="9436735" cy="6160770"/>
          </a:xfrm>
          <a:custGeom xmlns:a="http://schemas.openxmlformats.org/drawingml/2006/main">
            <a:rect l="l" t="t" r="r" b="b"/>
            <a:pathLst>
              <a:path w="9436735" h="6160770">
                <a:moveTo>
                  <a:pt x="9436645" y="0"/>
                </a:moveTo>
                <a:lnTo>
                  <a:pt x="0" y="0"/>
                </a:lnTo>
                <a:lnTo>
                  <a:pt x="0" y="6160266"/>
                </a:lnTo>
                <a:lnTo>
                  <a:pt x="9436645" y="6160266"/>
                </a:lnTo>
                <a:lnTo>
                  <a:pt x="9436645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C3D5934E-BEA3-A0F8-2748-0C940CCD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601" y="1258247"/>
            <a:ext cx="9436735" cy="6160770"/>
          </a:xfrm>
          <a:custGeom xmlns:a="http://schemas.openxmlformats.org/drawingml/2006/main">
            <a:rect l="l" t="t" r="r" b="b"/>
            <a:pathLst>
              <a:path w="9436735" h="6160770">
                <a:moveTo>
                  <a:pt x="0" y="0"/>
                </a:moveTo>
                <a:lnTo>
                  <a:pt x="9436645" y="0"/>
                </a:lnTo>
                <a:lnTo>
                  <a:pt x="9436645" y="6160266"/>
                </a:lnTo>
                <a:lnTo>
                  <a:pt x="0" y="6160266"/>
                </a:lnTo>
                <a:lnTo>
                  <a:pt x="0" y="0"/>
                </a:lnTo>
                <a:close/>
              </a:path>
            </a:pathLst>
          </a:cu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327C8-5EBE-4F39-875B-0229A094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63300" cy="539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466F0-32C1-4724-B737-C177FACE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00064"/>
                </a:solidFill>
              </a:defRPr>
            </a:pPr>
            <a:r>
              <a:rPr sz="1650" b="1">
                <a:solidFill>
                  <a:srgbClr val="A00064"/>
                </a:solidFill>
              </a:rPr>
              <a:t>Recurring Expenses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380A2-77AA-464F-8D02-FA923DC6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E48D5-B9B9-48DD-A331-649B4AF8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Highlights repeated monthly spending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ABF0D-A342-4FDC-B86D-06A1DCC5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3373C-A33B-4CD2-B6AB-8AFF9A64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Helps users notice recurring costs faster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354A3-16D3-4468-A9BC-0A9E4B3A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0064"/>
                </a:solidFill>
              </a:defRPr>
            </a:pPr>
            <a:r>
              <a:rPr sz="1500" b="1">
                <a:solidFill>
                  <a:srgbClr val="A0006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F6F03-4CFA-4BF3-8F8E-01E4617D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Supports better budget awareness each month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3BE29-984B-4F48-AD25-4336FAEB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085850"/>
            <a:ext cx="4000500" cy="52197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82464b1b84904"/>
          <a:stretch xmlns:a="http://schemas.openxmlformats.org/drawingml/2006/main"/>
        </p:blipFill>
        <p:spPr>
          <a:xfrm xmlns:a="http://schemas.openxmlformats.org/drawingml/2006/main">
            <a:off x="7039094" y="1181100"/>
            <a:ext cx="2381012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161061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2026-04-28T04:04:30.9560000Z</dcterms:created>
  <dcterms:modified xsi:type="dcterms:W3CDTF">2026-04-28T04:04:30.9560000Z</dcterms:modified>
</coreProperties>
</file>