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5359119cfa4a09" /><Relationship Type="http://schemas.openxmlformats.org/officeDocument/2006/relationships/extended-properties" Target="/docProps/app.xml" Id="R79ee9d7b1d8d4a72" /><Relationship Type="http://schemas.openxmlformats.org/officeDocument/2006/relationships/officeDocument" Target="/ppt/presentation.xml" Id="Rc499e360992844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548b0aa6014673"/>
  </p:sldMasterIdLst>
  <p:notesMasterIdLst>
    <p:notesMasterId xmlns:r="http://schemas.openxmlformats.org/officeDocument/2006/relationships" r:id="R574cd1041b3d4810"/>
  </p:notesMasterIdLst>
  <p:sldIdLst>
    <p:sldId xmlns:r="http://schemas.openxmlformats.org/officeDocument/2006/relationships" id="256" r:id="Rc39d043b31b145ba"/>
    <p:sldId xmlns:r="http://schemas.openxmlformats.org/officeDocument/2006/relationships" id="257" r:id="R413b2c47377a4960"/>
    <p:sldId xmlns:r="http://schemas.openxmlformats.org/officeDocument/2006/relationships" id="258" r:id="R20d786ede0ee4c34"/>
    <p:sldId xmlns:r="http://schemas.openxmlformats.org/officeDocument/2006/relationships" id="259" r:id="R33ac8e2959ce4af1"/>
    <p:sldId xmlns:r="http://schemas.openxmlformats.org/officeDocument/2006/relationships" id="260" r:id="Rbd8ee29442754063"/>
    <p:sldId xmlns:r="http://schemas.openxmlformats.org/officeDocument/2006/relationships" id="261" r:id="R1f114a7cb80f49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48b0aa6014673" /><Relationship Type="http://schemas.openxmlformats.org/officeDocument/2006/relationships/theme" Target="/ppt/theme/theme1.xml" Id="Rd095c56780a84786" /><Relationship Type="http://schemas.openxmlformats.org/officeDocument/2006/relationships/notesMaster" Target="/ppt/notesMasters/notesMaster1.xml" Id="R574cd1041b3d4810" /><Relationship Type="http://schemas.openxmlformats.org/officeDocument/2006/relationships/presProps" Target="/ppt/presProps.xml" Id="Rad7847d974184970" /><Relationship Type="http://schemas.openxmlformats.org/officeDocument/2006/relationships/viewProps" Target="/ppt/viewProps.xml" Id="R044bf552028241cd" /><Relationship Type="http://schemas.openxmlformats.org/officeDocument/2006/relationships/tableStyles" Target="/ppt/tableStyles.xml" Id="Ra5552b9aff1c4ca4" /><Relationship Type="http://schemas.openxmlformats.org/officeDocument/2006/relationships/slide" Target="/ppt/slides/slide1.xml" Id="Rc39d043b31b145ba" /><Relationship Type="http://schemas.openxmlformats.org/officeDocument/2006/relationships/slide" Target="/ppt/slides/slide2.xml" Id="R413b2c47377a4960" /><Relationship Type="http://schemas.openxmlformats.org/officeDocument/2006/relationships/slide" Target="/ppt/slides/slide3.xml" Id="R20d786ede0ee4c34" /><Relationship Type="http://schemas.openxmlformats.org/officeDocument/2006/relationships/slide" Target="/ppt/slides/slide4.xml" Id="R33ac8e2959ce4af1" /><Relationship Type="http://schemas.openxmlformats.org/officeDocument/2006/relationships/slide" Target="/ppt/slides/slide5.xml" Id="Rbd8ee29442754063" /><Relationship Type="http://schemas.openxmlformats.org/officeDocument/2006/relationships/slide" Target="/ppt/slides/slide6.xml" Id="R1f114a7cb80f49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9db735107ee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SmartWallet">
  <a:themeElements>
    <a:clrScheme name="SmartWallet">
      <a:accent1>
        <a:srgbClr val="10B981"/>
      </a:accent1>
      <a:accent2>
        <a:srgbClr val="38BDF8"/>
      </a:accent2>
      <a:accent3>
        <a:srgbClr val="A78BFA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martWalle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b5bf3359b74c83" /><Relationship Type="http://schemas.openxmlformats.org/officeDocument/2006/relationships/notesMaster" Target="/ppt/notesMasters/notesMaster1.xml" Id="Rc7a854011e9248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8d3f1f4f48450d" /><Relationship Type="http://schemas.openxmlformats.org/officeDocument/2006/relationships/notesMaster" Target="/ppt/notesMasters/notesMaster1.xml" Id="R356e1c775e6345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910c55715f4644" /><Relationship Type="http://schemas.openxmlformats.org/officeDocument/2006/relationships/notesMaster" Target="/ppt/notesMasters/notesMaster1.xml" Id="R6c92817da1a048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2c6cf9d03146b9" /><Relationship Type="http://schemas.openxmlformats.org/officeDocument/2006/relationships/notesMaster" Target="/ppt/notesMasters/notesMaster1.xml" Id="Ra37b056f6e834b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dfa017767548cc" /><Relationship Type="http://schemas.openxmlformats.org/officeDocument/2006/relationships/notesMaster" Target="/ppt/notesMasters/notesMaster1.xml" Id="R3c8459233af349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a7624ffad448fd" /><Relationship Type="http://schemas.openxmlformats.org/officeDocument/2006/relationships/notesMaster" Target="/ppt/notesMasters/notesMaster1.xml" Id="Ree07535b24cf4d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3c7ab92b84e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EB4F0C0-9AC0-4D7C-B867-4974545A6DA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BE79BF4-F20F-49CE-9171-707CFA34031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98A8D2-7967-488B-A2B5-0BA7EAB7158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6BE16E-798D-46F2-8F05-B23DF9583F6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E87A5F-8A05-475E-8DDE-BB6E877EF80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948d97c5a04860" /><Relationship Type="http://schemas.openxmlformats.org/officeDocument/2006/relationships/slideLayout" Target="/ppt/slideLayouts/slideLayout2.xml" Id="R4e93f1b5bb5144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3C0279-477A-4D63-9106-47CAC9F0A09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93f1b5bb5144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07ee8458db48b2" /><Relationship Type="http://schemas.openxmlformats.org/officeDocument/2006/relationships/image" Target="/ppt/media/image.jpeg" Id="R7e76d825027d4654" /><Relationship Type="http://schemas.openxmlformats.org/officeDocument/2006/relationships/image" Target="/ppt/media/image2.jpeg" Id="R146ff04e427945d1" /><Relationship Type="http://schemas.openxmlformats.org/officeDocument/2006/relationships/notesSlide" Target="/ppt/notesSlides/notesSlide1.xml" Id="Rc5a86ebeaf1d43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d3d2df1f834947" /><Relationship Type="http://schemas.openxmlformats.org/officeDocument/2006/relationships/image" Target="/ppt/media/image3.jpeg" Id="Ra7ee2d6263d14997" /><Relationship Type="http://schemas.openxmlformats.org/officeDocument/2006/relationships/notesSlide" Target="/ppt/notesSlides/notesSlide2.xml" Id="R97bc862b495c40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aac9fab39d4421" /><Relationship Type="http://schemas.openxmlformats.org/officeDocument/2006/relationships/image" Target="/ppt/media/image4.jpeg" Id="R8f5e729398f34f78" /><Relationship Type="http://schemas.openxmlformats.org/officeDocument/2006/relationships/image" Target="/ppt/media/image5.jpeg" Id="R8960ed14f2ce4cd7" /><Relationship Type="http://schemas.openxmlformats.org/officeDocument/2006/relationships/image" Target="/ppt/media/image6.jpeg" Id="R03b74c74fe3a4d7c" /><Relationship Type="http://schemas.openxmlformats.org/officeDocument/2006/relationships/notesSlide" Target="/ppt/notesSlides/notesSlide3.xml" Id="Re7f97e2c93ba48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4a535451474c74" /><Relationship Type="http://schemas.openxmlformats.org/officeDocument/2006/relationships/image" Target="/ppt/media/image7.jpeg" Id="R950434f751ac4ca4" /><Relationship Type="http://schemas.openxmlformats.org/officeDocument/2006/relationships/image" Target="/ppt/media/image8.jpeg" Id="R95572dcf2fa54034" /><Relationship Type="http://schemas.openxmlformats.org/officeDocument/2006/relationships/image" Target="/ppt/media/image9.jpeg" Id="R99ae3cb0124245a2" /><Relationship Type="http://schemas.openxmlformats.org/officeDocument/2006/relationships/notesSlide" Target="/ppt/notesSlides/notesSlide4.xml" Id="Rd043256b28b847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820aa2e19e4ca9" /><Relationship Type="http://schemas.openxmlformats.org/officeDocument/2006/relationships/image" Target="/ppt/media/image10.jpeg" Id="Rc05eadde5e86486e" /><Relationship Type="http://schemas.openxmlformats.org/officeDocument/2006/relationships/image" Target="/ppt/media/image11.jpeg" Id="Rf4e6d4bb5230444c" /><Relationship Type="http://schemas.openxmlformats.org/officeDocument/2006/relationships/notesSlide" Target="/ppt/notesSlides/notesSlide5.xml" Id="R23a87b2efcef4b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906efb33114d40" /><Relationship Type="http://schemas.openxmlformats.org/officeDocument/2006/relationships/image" Target="/ppt/media/image12.jpeg" Id="R6d08717b95244850" /><Relationship Type="http://schemas.openxmlformats.org/officeDocument/2006/relationships/image" Target="/ppt/media/image13.jpeg" Id="R4561fce144874dc6" /><Relationship Type="http://schemas.openxmlformats.org/officeDocument/2006/relationships/notesSlide" Target="/ppt/notesSlides/notesSlide6.xml" Id="Ra7ad31889d5c45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E87A5F-8A05-475E-8DDE-BB6E877EF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FC84D-76B3-4EAC-8AA1-7201105B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057900"/>
          </a:xfrm>
          <a:prstGeom xmlns:a="http://schemas.openxmlformats.org/drawingml/2006/main" prst="roundRect">
            <a:avLst>
              <a:gd name="adj" fmla="val 1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6D17A-34CD-4334-9CAC-4C46FE3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953000" cy="60579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5A206-B89F-401E-B3FB-3F1C6E0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EFAC"/>
                </a:solidFill>
              </a:defRPr>
            </a:pPr>
            <a:r>
              <a:rPr sz="975" b="1">
                <a:solidFill>
                  <a:srgbClr val="86EFAC"/>
                </a:solidFill>
              </a:rPr>
              <a:t>SMART WALLET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0644E-3691-4C3A-A9EA-0EC1743D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361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 Short Overview of the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E02F4-8789-48BB-9448-4487AF75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</a:defRPr>
            </a:pPr>
            <a:r>
              <a:rPr sz="1350" b="0">
                <a:solidFill>
                  <a:srgbClr val="D1D5DB"/>
                </a:solidFill>
              </a:rPr>
              <a:t>A mobile-first personal finance app with dashboard analytics, AI spending summaries, and recurring expense tracking.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336F1-EC16-4079-B525-2F3F5651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342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F220F-2B3A-4463-8E8F-8252C789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Main highlight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990E6-0E0B-4CBD-A0D1-C6693B1E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app does not only track expenses. It also explains spending behavior through AI and shows repeated monthly costs clearly.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AA793-45A3-4C14-9F97-8881903B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62000"/>
            <a:ext cx="2152650" cy="43815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E5E53-46BF-4A98-8820-E67A319D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19150"/>
            <a:ext cx="2038350" cy="42672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6d825027d4654"/>
          <a:stretch xmlns:a="http://schemas.openxmlformats.org/drawingml/2006/main"/>
        </p:blipFill>
        <p:spPr>
          <a:xfrm xmlns:a="http://schemas.openxmlformats.org/drawingml/2006/main">
            <a:off x="6572250" y="840275"/>
            <a:ext cx="2000250" cy="4224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E9012-82C5-4D59-A558-09F7F2A1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181100"/>
            <a:ext cx="2247900" cy="39624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06BFE-FA9E-4BAF-82E4-CDC44D4A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38250"/>
            <a:ext cx="2133600" cy="38481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ff04e427945d1"/>
          <a:stretch xmlns:a="http://schemas.openxmlformats.org/drawingml/2006/main"/>
        </p:blipFill>
        <p:spPr>
          <a:xfrm xmlns:a="http://schemas.openxmlformats.org/drawingml/2006/main">
            <a:off x="9004102" y="1257300"/>
            <a:ext cx="1803797" cy="3810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F4D7A-147B-4B2A-8A2E-036EB938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Short PPT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4C5A6-40BF-442B-8523-6C442DAC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53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Focus: dashboard, charts, AI summary, and recurring expenses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B1CD8-6850-49C9-84E3-2A74059F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Smart Wallet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5874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E87A5F-8A05-475E-8DDE-BB6E877EF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5D3E0-8BC7-473A-879E-182362DD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PROBLEM AND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AEEA0-C000-4120-B0A2-E9D8B8A7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Why Smart Wallet Was Created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C9506-B08B-4612-BB69-0B86B32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The app was built to make monthly spending easier to understand instead of leaving users with raw lists and totals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115DA-64C1-4AF3-B676-2778AAF7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39D2A-4326-44B9-8E26-B919C3FD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Main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6A6E6-359A-46E5-9BEA-E16ED14E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676A5-B6F2-421E-9E2F-A9ABA4AC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Users can track expenses, but still struggle to understand spending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BC47C-59E6-4788-A043-D7C8790B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73244-A89A-4CA6-8D41-CB40D87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Traditional apps often stop at charts or totals without giving explanation.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40946-5428-4150-AFE6-22EDF6B6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F0B25-1F4B-4682-B3B5-F3E02FF4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Recurring expenses and spending habits are easy to miss each month.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FCA99-3D67-4F6A-BA88-0A2373A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5619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9891C-A5AA-4503-BB3F-B04A8E98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47857"/>
                </a:solidFill>
              </a:defRPr>
            </a:pPr>
            <a:r>
              <a:rPr sz="1050" b="1">
                <a:solidFill>
                  <a:srgbClr val="047857"/>
                </a:solidFill>
              </a:rPr>
              <a:t>Proposed 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4252F-5B54-4D28-A531-58CE59DA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AB49A-182B-4F89-A93D-8BAF6F10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 simple wallet dashboard that shows monthly expenses clearly.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73E87-F4A4-4448-996D-E293C59C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62472-A68B-4791-AECD-C69564E0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528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Visual charts, summary cards, and a finance overview in one place.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4F26B-FF28-47CC-930A-979E06E4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60313-32D3-47D8-97AA-297365F5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481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An AI Summary card plus recurring-expense tracking for faster understanding.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73960-C3E8-44DE-A936-BAF66A39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76550"/>
            <a:ext cx="1657350" cy="25336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26F6D-530A-48EB-9315-77B8222D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33700"/>
            <a:ext cx="1543050" cy="24193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e2d6263d14997"/>
          <a:stretch xmlns:a="http://schemas.openxmlformats.org/drawingml/2006/main"/>
        </p:blipFill>
        <p:spPr>
          <a:xfrm xmlns:a="http://schemas.openxmlformats.org/drawingml/2006/main">
            <a:off x="9047038" y="2952750"/>
            <a:ext cx="1127373" cy="23812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CAC08-76BF-404F-A233-F3047370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Smart Wallet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55789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E87A5F-8A05-475E-8DDE-BB6E877EF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7E389-80D4-494F-9760-510F812C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CORE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550E6-7E4A-49A1-8D1D-4B81597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Simple User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644B3-6922-4BEE-8352-C4A788B4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The project focuses on a short and practical flow: log in, manage wallet activity, and monitor the monthly dashboard.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5531C-EF49-471A-A1BB-E10535B6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857500" cy="3429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BD908-7061-4C3C-86A7-7231587F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1. Log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FCDE2-4694-47EF-9FAC-B8E0A5E1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The user signs in and enters the app securely.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852BD-AAF0-4216-AF25-7DD6B617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1371600" cy="20193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D2D22-7D70-474B-822B-DC18F417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67100"/>
            <a:ext cx="1257300" cy="19050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e729398f34f78"/>
          <a:stretch xmlns:a="http://schemas.openxmlformats.org/drawingml/2006/main"/>
        </p:blipFill>
        <p:spPr>
          <a:xfrm xmlns:a="http://schemas.openxmlformats.org/drawingml/2006/main">
            <a:off x="1672620" y="3486150"/>
            <a:ext cx="883860" cy="1866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C36BB-398A-479A-85EA-EFADB52D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2857500" cy="3429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73B92-D05E-4F12-A394-880635C2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384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2. Add Transactions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68247-4EF3-4600-931F-4E668D39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New expenses can be entered and organized inside the wallet.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E7C30-E8F4-4D97-AFDE-BEE7AC6A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09950"/>
            <a:ext cx="1371600" cy="20193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67F4F-984F-4FF4-9B88-8BF1F6CA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67100"/>
            <a:ext cx="1257300" cy="19050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0ed14f2ce4cd7"/>
          <a:stretch xmlns:a="http://schemas.openxmlformats.org/drawingml/2006/main"/>
        </p:blipFill>
        <p:spPr>
          <a:xfrm xmlns:a="http://schemas.openxmlformats.org/drawingml/2006/main">
            <a:off x="4987320" y="3486150"/>
            <a:ext cx="883860" cy="18669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12FE-4AED-40EE-9E4F-BBAF6AD3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9800"/>
            <a:ext cx="2857500" cy="3429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79217-56B4-4175-BFDE-7FEC263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384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3. Track Monthly Spending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BE130-30F1-4D15-A48D-A35651BA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003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The dashboard updates and shows summaries, charts, AI insight, and recurring expenses.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4D4A7-1316-417A-9D89-FA968749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1371600" cy="20193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46CA1-A8B1-46FA-996A-A19862E1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1257300" cy="19050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74c74fe3a4d7c"/>
          <a:stretch xmlns:a="http://schemas.openxmlformats.org/drawingml/2006/main"/>
        </p:blipFill>
        <p:spPr>
          <a:xfrm xmlns:a="http://schemas.openxmlformats.org/drawingml/2006/main">
            <a:off x="8302020" y="3486150"/>
            <a:ext cx="883860" cy="1866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05B2C-15B0-4B57-990F-D7AC88CF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Smart Wallet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49710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E87A5F-8A05-475E-8DDE-BB6E877EF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A9140-E4F2-44BB-98A1-0B3ED23B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096C5-2C6F-4BAB-A5EE-313D86FA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Monthly Expense Monitoring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FC12C-5C26-460C-9E23-8AB9E85C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The dashboard is the main area of the app, showing the user’s monthly financial position through cards, a donut chart, and a line chart.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BDC62-9238-4DBF-B4FE-EC27597C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08585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0E53F-145E-459A-B3A2-244F72EE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847850" cy="31051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FF42B-78C2-4D0B-BE3B-215F8417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733550" cy="29908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434f751ac4ca4"/>
          <a:stretch xmlns:a="http://schemas.openxmlformats.org/drawingml/2006/main"/>
        </p:blipFill>
        <p:spPr>
          <a:xfrm xmlns:a="http://schemas.openxmlformats.org/drawingml/2006/main">
            <a:off x="1044104" y="2457450"/>
            <a:ext cx="1397943" cy="2952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C611D-8C31-45A5-B0F0-40E409E0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47850" cy="31051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ADE0F-491E-453F-BBE0-354D4CC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38400"/>
            <a:ext cx="1733550" cy="29908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72dcf2fa54034"/>
          <a:stretch xmlns:a="http://schemas.openxmlformats.org/drawingml/2006/main"/>
        </p:blipFill>
        <p:spPr>
          <a:xfrm xmlns:a="http://schemas.openxmlformats.org/drawingml/2006/main">
            <a:off x="3272954" y="2457450"/>
            <a:ext cx="1397943" cy="2952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8694F-05C1-487B-B079-80DA451D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1847850" cy="31051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54EF0-5DE3-400E-94FE-0014292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1733550" cy="29908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e3cb0124245a2"/>
          <a:stretch xmlns:a="http://schemas.openxmlformats.org/drawingml/2006/main"/>
        </p:blipFill>
        <p:spPr>
          <a:xfrm xmlns:a="http://schemas.openxmlformats.org/drawingml/2006/main">
            <a:off x="5501804" y="2457450"/>
            <a:ext cx="1397943" cy="2952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062C0-5F03-42A7-882F-9AC081E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33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What the dashboard shows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923A9-13C8-4B33-B0EF-2B3D83F9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223FB-4CC3-490B-97C0-B20CD16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289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Overall monthly balance and spending overview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01295-F9BA-44A1-AE8F-42596F0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47744-5323-4733-9B3F-363D23CD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Donut chart for spending distribution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E77F1-81CC-4558-8CC8-B7E9C0D6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E5138-F05B-424F-AB43-D58239F8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Line chart for monthly expense trend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9DF26-7461-466F-9001-8D9CAB8F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43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DD4AD-DBCF-4A1B-BDAB-94B7EE34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Quick cards for easier 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539E5-FBA7-421A-8004-2C8B55C8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Smart Wallet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00983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E87A5F-8A05-475E-8DDE-BB6E877EF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E6296-D158-41D2-A6C0-50AD16AA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857"/>
                </a:solidFill>
              </a:defRPr>
            </a:pPr>
            <a:r>
              <a:rPr sz="900" b="1">
                <a:solidFill>
                  <a:srgbClr val="047857"/>
                </a:solidFill>
              </a:rPr>
              <a:t>AI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F7727-8B8A-449F-9B2B-F693D57C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AI Summary and Recurring Expenses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09214-987F-410F-8950-D8C958E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These features make Smart Wallet more than a normal expense tracker by helping users understand both spending meaning and repeated monthly costs.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E44E6-1017-4EB6-9112-067D03C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7EB31-5A66-497A-83E0-7CDF8386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5143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048A3-7124-407D-8B86-5490A20E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AI Summary 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EA7F5-44AC-4EBC-8C22-4A0727A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Explains the user’s spending in simple language and gives quick insight about financial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EC33F-B310-4BCD-BB12-E9A2EE23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2247900" cy="32004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AE4FF-2B1A-4AC3-8B96-EDC6A01B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57450"/>
            <a:ext cx="2133600" cy="30861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eadde5e86486e"/>
          <a:stretch xmlns:a="http://schemas.openxmlformats.org/drawingml/2006/main"/>
        </p:blipFill>
        <p:spPr>
          <a:xfrm xmlns:a="http://schemas.openxmlformats.org/drawingml/2006/main">
            <a:off x="3621881" y="2476500"/>
            <a:ext cx="1443038" cy="3048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78A71-A40B-4175-925B-22B6B877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384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Recurring Expenses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DB14E-281F-46B7-9A21-85B09618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Highlights repeated costs so the user can easily see subscriptions and recurring monthly spending patterns.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0462F-E1CB-4B0A-9EFD-EAD75490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247900" cy="32004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BA2DF-2BBF-49FD-9546-B8B51AF8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2133600" cy="30861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6d4bb5230444c"/>
          <a:stretch xmlns:a="http://schemas.openxmlformats.org/drawingml/2006/main"/>
        </p:blipFill>
        <p:spPr>
          <a:xfrm xmlns:a="http://schemas.openxmlformats.org/drawingml/2006/main">
            <a:off x="9336881" y="2476500"/>
            <a:ext cx="1443038" cy="3048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59BBD-1489-4F7C-BF8A-2F3E5A44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Smart Wallet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61907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E87A5F-8A05-475E-8DDE-BB6E877EF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B277A-964F-427B-9769-0B53D22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11049000" cy="5867400"/>
          </a:xfrm>
          <a:prstGeom xmlns:a="http://schemas.openxmlformats.org/drawingml/2006/main" prst="roundRect">
            <a:avLst>
              <a:gd name="adj" fmla="val 129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FB011-5A94-4A92-A44D-5E1BD45C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EFAC"/>
                </a:solidFill>
              </a:defRPr>
            </a:pPr>
            <a:r>
              <a:rPr sz="975" b="1">
                <a:solidFill>
                  <a:srgbClr val="86EFAC"/>
                </a:solidFill>
              </a:rPr>
              <a:t>SMART WALLET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3878E-2FFD-4A0A-800C-880B57EA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Project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578B7-FAEB-478E-97C2-DBD8AE09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</a:defRPr>
            </a:pPr>
            <a:r>
              <a:rPr sz="1350" b="0">
                <a:solidFill>
                  <a:srgbClr val="D1D5DB"/>
                </a:solidFill>
              </a:rPr>
              <a:t>Smart Wallet combines simple finance tracking with a clearer and more intelligent dashboard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376E4-D895-405E-AFBF-6D88B1D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0F134-02B2-4113-8969-D392C641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Helps users log in, manage wallet activity, and track monthly expenses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5486D-C5A7-47AA-9B45-65EF21A6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B8461-7A5C-446B-8545-F93FDECB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Shows spending visually through dashboard cards, a donut chart, and a line chart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FE014-F723-41C2-B452-820AA061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76F04-92E6-4C1F-9251-858AA756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Adds more value through AI Summary and recurring-expense tracking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6159A-1573-42ED-952F-254A41C5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52550"/>
            <a:ext cx="1866900" cy="35814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8D25D-E6C1-421A-BB2F-828AA6D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09700"/>
            <a:ext cx="1752600" cy="34671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8717b95244850"/>
          <a:stretch xmlns:a="http://schemas.openxmlformats.org/drawingml/2006/main"/>
        </p:blipFill>
        <p:spPr>
          <a:xfrm xmlns:a="http://schemas.openxmlformats.org/drawingml/2006/main">
            <a:off x="7284541" y="1428750"/>
            <a:ext cx="1623417" cy="3429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EFBC9-6FE9-4A8D-A230-CD8A8A94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52550"/>
            <a:ext cx="1866900" cy="35814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1F229-A8C3-49C2-953A-A009044A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09700"/>
            <a:ext cx="1752600" cy="34671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1fce144874dc6"/>
          <a:stretch xmlns:a="http://schemas.openxmlformats.org/drawingml/2006/main"/>
        </p:blipFill>
        <p:spPr>
          <a:xfrm xmlns:a="http://schemas.openxmlformats.org/drawingml/2006/main">
            <a:off x="9284791" y="1428750"/>
            <a:ext cx="1623417" cy="3429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156FC-492E-4ED6-90F0-47F7A4E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4D964-3732-4822-A12E-416D8AEB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81625"/>
            <a:ext cx="3181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Future direction: stronger testing, smarter budgeting, and more advanced financial recommendations.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DAE70-DDBB-4CC9-9C00-FFE65587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Smart Wallet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70028402"/>
      </p:ext>
    </p:extLst>
  </p:cSld>
</p:sld>
</file>

<file path=ppt/theme/theme1.xml><?xml version="1.0" encoding="utf-8"?>
<a:theme xmlns:a="http://schemas.openxmlformats.org/drawingml/2006/main" name="SmartWallet">
  <a:themeElements>
    <a:clrScheme name="SmartWallet">
      <a:accent1>
        <a:srgbClr val="10B981"/>
      </a:accent1>
      <a:accent2>
        <a:srgbClr val="38BDF8"/>
      </a:accent2>
      <a:accent3>
        <a:srgbClr val="A78BFA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martWalle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2026-04-28T03:57:05.1110000Z</dcterms:created>
  <dcterms:modified xsi:type="dcterms:W3CDTF">2026-04-28T03:57:05.1110000Z</dcterms:modified>
</coreProperties>
</file>